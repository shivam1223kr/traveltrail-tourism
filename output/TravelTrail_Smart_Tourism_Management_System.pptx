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ffde34deba4549" /><Relationship Type="http://schemas.openxmlformats.org/officeDocument/2006/relationships/extended-properties" Target="/docProps/app.xml" Id="Rd98f77c373a14918" /><Relationship Type="http://schemas.openxmlformats.org/officeDocument/2006/relationships/officeDocument" Target="/ppt/presentation.xml" Id="Refc77a5e72fc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618044347d4105"/>
  </p:sldMasterIdLst>
  <p:notesMasterIdLst>
    <p:notesMasterId xmlns:r="http://schemas.openxmlformats.org/officeDocument/2006/relationships" r:id="R63e92fe8f94d43bd"/>
  </p:notesMasterIdLst>
  <p:sldIdLst>
    <p:sldId xmlns:r="http://schemas.openxmlformats.org/officeDocument/2006/relationships" id="256" r:id="Rf8581d1f6a484186"/>
    <p:sldId xmlns:r="http://schemas.openxmlformats.org/officeDocument/2006/relationships" id="257" r:id="R403a87b5344b47c8"/>
    <p:sldId xmlns:r="http://schemas.openxmlformats.org/officeDocument/2006/relationships" id="258" r:id="Rd98836132a294a46"/>
    <p:sldId xmlns:r="http://schemas.openxmlformats.org/officeDocument/2006/relationships" id="259" r:id="R6f7a6ce83a4f44a8"/>
    <p:sldId xmlns:r="http://schemas.openxmlformats.org/officeDocument/2006/relationships" id="260" r:id="Rd77e3bb852424a3b"/>
    <p:sldId xmlns:r="http://schemas.openxmlformats.org/officeDocument/2006/relationships" id="261" r:id="Recde8f37eddb4ef0"/>
    <p:sldId xmlns:r="http://schemas.openxmlformats.org/officeDocument/2006/relationships" id="262" r:id="R78a91beb18a94874"/>
    <p:sldId xmlns:r="http://schemas.openxmlformats.org/officeDocument/2006/relationships" id="263" r:id="Rc1810ab42e0c41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8670ec786c476c" /><Relationship Type="http://schemas.openxmlformats.org/officeDocument/2006/relationships/slideMaster" Target="/ppt/slideMasters/slideMaster1.xml" Id="R18618044347d4105" /><Relationship Type="http://schemas.openxmlformats.org/officeDocument/2006/relationships/notesMaster" Target="/ppt/notesMasters/notesMaster1.xml" Id="R63e92fe8f94d43bd" /><Relationship Type="http://schemas.openxmlformats.org/officeDocument/2006/relationships/presProps" Target="/ppt/presProps.xml" Id="Rcda343c81f36493e" /><Relationship Type="http://schemas.openxmlformats.org/officeDocument/2006/relationships/tableStyles" Target="/ppt/tableStyles.xml" Id="R2d4c0c650fde4ce2" /><Relationship Type="http://schemas.openxmlformats.org/officeDocument/2006/relationships/slide" Target="/ppt/slides/slide1.xml" Id="Rf8581d1f6a484186" /><Relationship Type="http://schemas.openxmlformats.org/officeDocument/2006/relationships/slide" Target="/ppt/slides/slide2.xml" Id="R403a87b5344b47c8" /><Relationship Type="http://schemas.openxmlformats.org/officeDocument/2006/relationships/slide" Target="/ppt/slides/slide3.xml" Id="Rd98836132a294a46" /><Relationship Type="http://schemas.openxmlformats.org/officeDocument/2006/relationships/slide" Target="/ppt/slides/slide4.xml" Id="R6f7a6ce83a4f44a8" /><Relationship Type="http://schemas.openxmlformats.org/officeDocument/2006/relationships/slide" Target="/ppt/slides/slide5.xml" Id="Rd77e3bb852424a3b" /><Relationship Type="http://schemas.openxmlformats.org/officeDocument/2006/relationships/slide" Target="/ppt/slides/slide6.xml" Id="Recde8f37eddb4ef0" /><Relationship Type="http://schemas.openxmlformats.org/officeDocument/2006/relationships/slide" Target="/ppt/slides/slide7.xml" Id="R78a91beb18a94874" /><Relationship Type="http://schemas.openxmlformats.org/officeDocument/2006/relationships/slide" Target="/ppt/slides/slide8.xml" Id="Rc1810ab42e0c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1db9ac82847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82fb5dc1e54be0" /><Relationship Type="http://schemas.openxmlformats.org/officeDocument/2006/relationships/notesMaster" Target="/ppt/notesMasters/notesMaster1.xml" Id="R2cbb48c5dd9648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c0fe129dda4ebe" /><Relationship Type="http://schemas.openxmlformats.org/officeDocument/2006/relationships/notesMaster" Target="/ppt/notesMasters/notesMaster1.xml" Id="R2a0cc920e50042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cd2f91b3ce479c" /><Relationship Type="http://schemas.openxmlformats.org/officeDocument/2006/relationships/notesMaster" Target="/ppt/notesMasters/notesMaster1.xml" Id="R89d67c668e3f41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4085f4b00e43c0" /><Relationship Type="http://schemas.openxmlformats.org/officeDocument/2006/relationships/notesMaster" Target="/ppt/notesMasters/notesMaster1.xml" Id="Rc588f10f7b6047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53a9ef672a4458" /><Relationship Type="http://schemas.openxmlformats.org/officeDocument/2006/relationships/notesMaster" Target="/ppt/notesMasters/notesMaster1.xml" Id="R2a499b0c750b43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8195f470bb4d12" /><Relationship Type="http://schemas.openxmlformats.org/officeDocument/2006/relationships/notesMaster" Target="/ppt/notesMasters/notesMaster1.xml" Id="Rb0854455dd8940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dc2d8d6b274f2b" /><Relationship Type="http://schemas.openxmlformats.org/officeDocument/2006/relationships/notesMaster" Target="/ppt/notesMasters/notesMaster1.xml" Id="R4b23ca27bc4440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ceeaab84724ee0" /><Relationship Type="http://schemas.openxmlformats.org/officeDocument/2006/relationships/notesMaster" Target="/ppt/notesMasters/notesMaster1.xml" Id="R2c478de6dbb240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presentation cover. Project implementation includes demo data for immediate use and a MySQL schema for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external statistics are claimed. The slide explains the project objective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website implements all five modules as interactive sections and Flask API routes.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used by this prototype. Current Flask app uses demo data so it runs without a database; database.sql defines the MySQL schema for full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Scoring reflects the actual /api/recommend implementation. It is a rule-based baseline, not a trained machine learning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database.sql file contains CREATE TABLE statements for these entities and foreign keys.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describes the implemented website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Future scope: authentication, live provider APIs, payment gateway, map integration, and a trained conversational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9aab8618446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619870557a4b6e" /><Relationship Type="http://schemas.openxmlformats.org/officeDocument/2006/relationships/slideLayout" Target="/ppt/slideLayouts/slideLayout1.xml" Id="Ree450952a88346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450952a88346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dc57f38284915" /><Relationship Type="http://schemas.openxmlformats.org/officeDocument/2006/relationships/notesSlide" Target="/ppt/notesSlides/notesSlide1.xml" Id="Rd0001bcce2d34b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8ace684994377" /><Relationship Type="http://schemas.openxmlformats.org/officeDocument/2006/relationships/notesSlide" Target="/ppt/notesSlides/notesSlide2.xml" Id="R64e92f389ea54f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c3146127641de" /><Relationship Type="http://schemas.openxmlformats.org/officeDocument/2006/relationships/notesSlide" Target="/ppt/notesSlides/notesSlide3.xml" Id="R0f609247dd5046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5c79051c948a4" /><Relationship Type="http://schemas.openxmlformats.org/officeDocument/2006/relationships/notesSlide" Target="/ppt/notesSlides/notesSlide4.xml" Id="R5bb2bf0b94624c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59b401d754656" /><Relationship Type="http://schemas.openxmlformats.org/officeDocument/2006/relationships/notesSlide" Target="/ppt/notesSlides/notesSlide5.xml" Id="R6a8bf7dd249a4e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f841c2b42c49a6" /><Relationship Type="http://schemas.openxmlformats.org/officeDocument/2006/relationships/notesSlide" Target="/ppt/notesSlides/notesSlide6.xml" Id="R18f8fa2de22345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866dfbf4d4ed0" /><Relationship Type="http://schemas.openxmlformats.org/officeDocument/2006/relationships/notesSlide" Target="/ppt/notesSlides/notesSlide7.xml" Id="R50d21fe8e4b3445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bb21c04734604" /><Relationship Type="http://schemas.openxmlformats.org/officeDocument/2006/relationships/notesSlide" Target="/ppt/notesSlides/notesSlide8.xml" Id="R872bb202dbcf43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064FA-B147-4535-895A-5DA4F0EF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2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C746E-B2B8-4B60-84B0-39EE2D70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90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03A2CA-DF6D-4417-90BF-628B835C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895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4C9A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4C9A3"/>
                </a:solidFill>
                <a:latin typeface="Arial"/>
                <a:ea typeface="Arial"/>
                <a:cs typeface="Arial"/>
              </a:rPr>
              <a:t>BTECH CSE MINI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1E6F87-3547-48AE-8E88-07CD8E2E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638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122"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4725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TravelTrail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301CD0-A41E-4E87-9814-5E185598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98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E6F0E5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700" b="0">
                <a:solidFill>
                  <a:srgbClr val="E6F0E5"/>
                </a:solidFill>
                <a:latin typeface="Playfair Display"/>
                <a:ea typeface="Playfair Display"/>
                <a:cs typeface="Playfair Display"/>
              </a:rPr>
              <a:t>Smart Tourism Management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F7F4D-45D1-4493-951A-E4455762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0375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019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6D7D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6D7D0"/>
                </a:solidFill>
                <a:latin typeface="Arial"/>
                <a:ea typeface="Arial"/>
                <a:cs typeface="Arial"/>
              </a:rPr>
              <a:t>Online tour booking · hotel price comparison · smart recommendations · AI travel chatbot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BA134-1A5B-4351-910E-B9B8828D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506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C2E65-9C16-44CC-A484-4FF9852E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529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Technologies: HTML, CSS, JavaScript, Python Flask and MySQL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13FFF5-9677-440F-9FBB-B8B70728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572125"/>
            <a:ext cx="714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6D7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7D0"/>
                </a:solidFill>
                <a:latin typeface="Arial"/>
                <a:ea typeface="Arial"/>
                <a:cs typeface="Arial"/>
              </a:rPr>
              <a:t>Submitted by: ____________________     Roll No: ____________________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94DE9-81CF-4039-9C43-EB8CCA0E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857875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6D7D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6D7D0"/>
                </a:solidFill>
                <a:latin typeface="Arial"/>
                <a:ea typeface="Arial"/>
                <a:cs typeface="Arial"/>
              </a:rPr>
              <a:t>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846215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D11CE-5826-4668-8F25-4B08FEE9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3A536-33F4-43B8-AB99-9E368C4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D6945-6F0B-40BF-B55A-BEA3823F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6B461-6766-4B09-B253-943A39AB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7CDFC-30EE-43D0-A0C8-494A1F2B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A single portal for planning an Indian trip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98332-26C8-42CD-A31C-D8B03AF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TravelTrail reduces the friction between trip discovery and booking. A visitor can discover a place, receive a tailored suggestion, compare hotel offers, submit a booking request and ask a travel question in one web application.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863FF-5F29-49DD-B364-AAE85806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00150"/>
            <a:ext cx="30956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5C0A5-C8FD-4315-A118-7DB424DC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30F3-6DFF-4B4C-8D7D-BB6D6405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097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979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302C"/>
                </a:solidFill>
                <a:latin typeface="Arial"/>
                <a:ea typeface="Arial"/>
                <a:cs typeface="Arial"/>
              </a:rPr>
              <a:t>Travellers search across separate sites for destinations, stay prices and basic trip guidance.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3142F-3255-4877-89FA-3F935E82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099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Solution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5359C-AE97-45C2-874C-510D7AFB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48075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9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2302C"/>
                </a:solidFill>
                <a:latin typeface="Arial"/>
                <a:ea typeface="Arial"/>
                <a:cs typeface="Arial"/>
              </a:rPr>
              <a:t>One responsive web interface with decision support and a booking 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D90AF3-7564-4F4E-BEAB-CEE62FD2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24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7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433F8-920B-4E6C-9AE6-02C744B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162550"/>
            <a:ext cx="2333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1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2302C"/>
                </a:solidFill>
                <a:latin typeface="Arial"/>
                <a:ea typeface="Arial"/>
                <a:cs typeface="Arial"/>
              </a:rPr>
              <a:t>BTech prototype using curated sample records and a deployable MySQL schema.</a:t>
            </a:r>
          </a:p>
        </p:txBody>
      </p:sp>
    </p:spTree>
    <p:extLst>
      <p:ext uri="{BB962C8B-B14F-4D97-AF65-F5344CB8AC3E}">
        <p14:creationId xmlns:p14="http://schemas.microsoft.com/office/powerpoint/2010/main" val="14019919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02797-C074-40AA-8761-EEB9479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3C2569-191F-450E-B24F-7B85BD77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07B4E-B5F8-4F26-ACED-7E893672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14CE8-CB3D-426B-B0A7-2B0CFE94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CORE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6FA83D-BE69-4A05-A52B-6AC791BC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Five connected user features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F8D27D-5778-4A96-A2E8-E0739C82E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D1060-3FA7-48E6-ADBF-685A2E76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286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Discover destinations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70CE9-C133-4D5B-B011-2ECEF4F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860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Browse curated Indian destinations with category, state and rating.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A9BF9-9481-49BD-9DA0-418CB81E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3B781-F2C3-4EC7-A169-57442C53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F1457-52CD-41CC-AEBD-16DC06CD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0099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Smart recommendations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6BE3B-CFBE-417A-ABCC-DD8C66D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Rank destinations by traveller interest, budget and destination rating.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7C9D8F-8A92-4552-9840-69CB7FF4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147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B29AC-4F0C-4469-B2D8-708A31AB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54814-A62D-4A22-B750-1BD7FC7F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37338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Hotel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2E1DB-DBEB-4A83-B8A5-11C0A220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Compare provider, price, amenities and rating in one table.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17E09-0E7B-4459-AD8D-16A92CF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D90820-E416-4450-BC36-78FD9252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684228-3657-45F9-B8A1-5513F48C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577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Online booking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995E14-4884-4D08-957B-09818177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Validate traveller details and create an instant booking reference.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BDFCF-A183-45F3-9688-EB91F0F3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625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DB9A0-4498-4DE1-887E-8B2CA6E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763847-CBEF-46C7-A3A4-9B7BC0B9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1816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TripGuide AI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1748D-BD90-4FC0-941C-C599AF03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816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Answer common destination, budget, beach and adventure queries.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727C6-F5BB-401A-98FC-C719E91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515269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4CBFFE-8CE0-434D-AB6D-90302740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E5D0D-DA20-49D7-AD12-31A8C943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EA1EA3-E10D-4485-A289-F07975C7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35770F-5569-4304-9970-65F685E9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D3B5B-7CAA-48FF-9373-EE167C7A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Browser, Flask application and MySQL data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800E3-00C2-4D16-9B78-E7E0DFB2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29146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9D02E-E005-4B36-931F-85327624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Client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4140A6-C729-49EF-92E1-DF1D10A4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81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0E2FA-C557-4651-B8B6-E55F247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HTML layout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CSS responsive styling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JavaScript fetch requests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BF30D-64F2-4453-8EA3-3B21353E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33650"/>
            <a:ext cx="29146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505E29-E056-45A2-9BFA-C2F2424A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79082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Flask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0D15A-40D8-46FC-A725-F0A96726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181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A8F27-A0EF-4086-9228-08715F8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76625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REST API endpoints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Recommendation scoring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Booking validation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Chat response logic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FABB88-15D6-4A32-B33B-24B70AF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533650"/>
            <a:ext cx="29146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661CB-1B17-4131-971F-0024516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2333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485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MySQL database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70077-1490-4C02-8621-252313ED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63C7B-1410-4A38-A93B-508835C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23050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Users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Destinations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Hotels</a:t>
            </a:r>
          </a:p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Bookings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B2142-82EC-43BF-B689-5061DD5B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9149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Request / JSON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64088F-2EAC-46F0-BFFE-A578AEF2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914900"/>
            <a:ext cx="176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Data query / persistence</a:t>
            </a:r>
          </a:p>
        </p:txBody>
      </p:sp>
    </p:spTree>
    <p:extLst>
      <p:ext uri="{BB962C8B-B14F-4D97-AF65-F5344CB8AC3E}">
        <p14:creationId xmlns:p14="http://schemas.microsoft.com/office/powerpoint/2010/main" val="8040241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63CF8-97F3-4FC1-BD0C-DA8A3AFD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86347-4E41-4724-927D-E294EAC2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B3295-F5D1-47AA-8826-2A7FA405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2FFBE-B4E6-4802-BD6F-198B30BC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SMART RECOMMENDATION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88F7F-B6DF-4C7F-B4FB-9E35971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A transparent score ranks suitable destinations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9B86F5-64CF-4FB7-90ED-D542ED5B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90775"/>
            <a:ext cx="5067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41B8C-3ACC-4466-83B0-D9446B69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812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Score = interest match + budget match + destination rating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42047-BF7C-4CF0-91A1-3BFB0830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3000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Interest match: +5</a:t>
            </a:r>
          </a:p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Budget match: +3</a:t>
            </a:r>
          </a:p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Rating: 0 to 5 points</a:t>
            </a:r>
          </a:p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Return the top three destinations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E8BD9-B12C-4484-BF11-6CC76CA1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90775"/>
            <a:ext cx="45720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F3675-4338-4A4A-B66B-2E339781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Example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BF6408-0AB5-47F0-87F8-BBC11454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0515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Interest: Beach</a:t>
            </a:r>
          </a:p>
          <a:p xmlns:a="http://schemas.openxmlformats.org/drawingml/2006/main">
            <a:pPr>
              <a:defRPr sz="135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Budget: Comfortable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E1FEF1-DF30-41A1-85DB-1A1A0641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40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Example top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20210-980E-4805-8B2B-A9138B1F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76725"/>
            <a:ext cx="152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111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684D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250" b="1">
                <a:solidFill>
                  <a:srgbClr val="D9684D"/>
                </a:solidFill>
                <a:latin typeface="Playfair Display"/>
                <a:ea typeface="Playfair Display"/>
                <a:cs typeface="Playfair Display"/>
              </a:rPr>
              <a:t>Goa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C0CED-7CC6-4CA1-A814-F43DF6BA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The approach is explainable and easy to improve with user history or ML later.</a:t>
            </a:r>
          </a:p>
        </p:txBody>
      </p:sp>
    </p:spTree>
    <p:extLst>
      <p:ext uri="{BB962C8B-B14F-4D97-AF65-F5344CB8AC3E}">
        <p14:creationId xmlns:p14="http://schemas.microsoft.com/office/powerpoint/2010/main" val="18861366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F712C4-BD85-4C10-BD8A-6EB1373A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C4D04-FA1F-4B43-970F-A455DD35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0EBE-702C-404F-9ECC-812EDBB5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AEF38D-6A9E-4419-8DF2-6DE1B736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F5FFBB-94A6-483C-89F2-FCB847E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MySQL entities support future production persistence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CFE01-6058-4D78-9D7C-4A0B98C9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FF4E6-A440-4B82-93E2-1B5E3C55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4315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users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70981-5122-476D-BB76-4C386510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52675"/>
            <a:ext cx="7477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id, name, email, created_at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C8683D-D734-4500-8901-AA1B29A3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24175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32D4C-452B-43C9-8F2D-B3878A39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7657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destinations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2C022-75C2-46F1-AD3F-8CEAA0AD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7477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id, name, state, category, budget_level, rating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10D44-795C-45A3-861F-7C9FFF58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83C8A-540B-4BE4-B613-B58EAD69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100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hotels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B99CD-0EC9-47B0-8E23-5B80684D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19525"/>
            <a:ext cx="7477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id, destination_id, name, provider, price_per_night, rating, amenities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6B463-2CC8-4AEF-BAA4-7EF10CDD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9C91F-6C09-4393-9CAF-F8D81562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43425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203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bookings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ED806-1AD0-497A-B689-E94C32D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52950"/>
            <a:ext cx="7477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id, booking_code, user_id, destination_id, checkin, guests, status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A43BF9-E150-4E5F-A5A0-7218F0B7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00675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Relationships: destination_id links hotels and bookings to destinations. user_id links bookings to registered users.</a:t>
            </a:r>
          </a:p>
        </p:txBody>
      </p:sp>
    </p:spTree>
    <p:extLst>
      <p:ext uri="{BB962C8B-B14F-4D97-AF65-F5344CB8AC3E}">
        <p14:creationId xmlns:p14="http://schemas.microsoft.com/office/powerpoint/2010/main" val="785756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AC1138-0C8C-428C-A7FD-7F89750C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A46A20-523F-474A-90F8-449C0583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270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C626D-7588-4A88-A172-FCF495B6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896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C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F73C1-2873-4D8B-9EB4-843B6120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0965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WEBSITE DEMONSTRATION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92F3C-3B2A-4E2A-BCDF-321AD0FB9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925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A responsive journey from exploration to booking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DBD353-06CD-4D05-AA14-F9871A1D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286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694B7-E1F6-4B93-AAC7-EC90F98C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0FE51-2118-4318-85A8-7A8B9E58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Explore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54BB7-32D8-483B-BEF5-97DAC9BA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86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Destination cards load from /api/destinations.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67EA0-C757-467A-A424-F45885A1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514600"/>
            <a:ext cx="2286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AEB72-0F2A-4F14-8323-903EAC5E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43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542F23-2EB8-467C-936E-55D13DF3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38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Recommend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3C04A-2B4F-4E73-AB67-893B7492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86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Form posts interest and budget to /api/recommend.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3E587-E72C-47BE-A21D-85B62AE0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2286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096B1C-D500-4078-98C2-183A5D82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CD77F-0DBF-441E-8B20-DB101198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Compare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98F2E-CBF5-46C0-AABB-A6F9B0899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86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City selection returns sorted provider prices.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127ABA-61C1-4CF5-9FE2-0D2D129E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514600"/>
            <a:ext cx="22860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D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AC3957-616A-4CAC-AC13-E2404A18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4320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968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684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0151D-BC5E-4C02-A3AE-417E65D0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238500"/>
            <a:ext cx="1857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1650" b="1">
                <a:solidFill>
                  <a:srgbClr val="12302C"/>
                </a:solidFill>
                <a:latin typeface="Playfair Display"/>
                <a:ea typeface="Playfair Display"/>
                <a:cs typeface="Playfair Display"/>
              </a:rPr>
              <a:t>Book &amp; chat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FE03E-D6AB-4B6F-B92A-C8538967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86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70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7069"/>
                </a:solidFill>
                <a:latin typeface="Arial"/>
                <a:ea typeface="Arial"/>
                <a:cs typeface="Arial"/>
              </a:rPr>
              <a:t>Booking returns a code. TripGuide AI handles common queries.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79F31A-0606-49F7-9A10-342A29F5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2302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2302C"/>
                </a:solidFill>
                <a:latin typeface="Arial"/>
                <a:ea typeface="Arial"/>
                <a:cs typeface="Arial"/>
              </a:rPr>
              <a:t>Run locally: install requirements.txt, start Python app.py, then open http://127.0.0.1:5000</a:t>
            </a:r>
          </a:p>
        </p:txBody>
      </p:sp>
    </p:spTree>
    <p:extLst>
      <p:ext uri="{BB962C8B-B14F-4D97-AF65-F5344CB8AC3E}">
        <p14:creationId xmlns:p14="http://schemas.microsoft.com/office/powerpoint/2010/main" val="20952607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30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20BEB2-CA49-4710-9A20-960D140F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00150"/>
            <a:ext cx="5095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17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3900" b="1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</a:rPr>
              <a:t>TravelTrail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0E84D-C382-4247-9B63-479AF319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6F0E5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250" b="0">
                <a:solidFill>
                  <a:srgbClr val="E6F0E5"/>
                </a:solidFill>
                <a:latin typeface="Playfair Display"/>
                <a:ea typeface="Playfair Display"/>
                <a:cs typeface="Playfair Display"/>
              </a:rPr>
              <a:t>Smart Tourism Management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94D75-497C-4DF8-A76E-7CF2604E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71775"/>
            <a:ext cx="3381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84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94C989-5696-426D-B5D7-879956FF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2385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5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C9A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C9A3"/>
                </a:solidFill>
                <a:latin typeface="Arial"/>
                <a:ea typeface="Arial"/>
                <a:cs typeface="Arial"/>
              </a:rPr>
              <a:t>Key outcomes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F2E73-D38B-472F-AC71-6C332ACB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48075"/>
            <a:ext cx="561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Online booking workflow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Transparent hotel price comparison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Explainable destination recommendations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AI-style travel guidance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• MySQL-ready data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2480D-483F-4DDE-A477-26253568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62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609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4C9A3"/>
                </a:solidFill>
                <a:latin typeface="Playfair Display"/>
                <a:ea typeface="Playfair Display"/>
                <a:cs typeface="Playfair Display"/>
              </a:defRPr>
            </a:pPr>
            <a:r>
              <a:rPr sz="2175" b="1">
                <a:solidFill>
                  <a:srgbClr val="F4C9A3"/>
                </a:solidFill>
                <a:latin typeface="Playfair Display"/>
                <a:ea typeface="Playfair Display"/>
                <a:cs typeface="Playfair Display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84726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2026-09-13T07:57:43.8910000Z</dcterms:created>
  <dcterms:modified xsi:type="dcterms:W3CDTF">2026-09-13T07:57:43.8910000Z</dcterms:modified>
</coreProperties>
</file>